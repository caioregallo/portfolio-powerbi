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mil)</c:v>
                </c:pt>
              </c:strCache>
            </c:strRef>
          </c:tx>
          <c:spPr>
            <a:ln w="38100" cap="flat">
              <a:solidFill>
                <a:srgbClr val="FFB4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400"/>
              </a:solidFill>
              <a:ln w="9525" cap="flat">
                <a:solidFill>
                  <a:srgbClr val="FFB4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471.57</c:v>
                </c:pt>
                <c:pt idx="1">
                  <c:v>380.77</c:v>
                </c:pt>
                <c:pt idx="2">
                  <c:v>517.35</c:v>
                </c:pt>
                <c:pt idx="3">
                  <c:v>433.83</c:v>
                </c:pt>
                <c:pt idx="4">
                  <c:v>620.99</c:v>
                </c:pt>
                <c:pt idx="5">
                  <c:v>848.16</c:v>
                </c:pt>
                <c:pt idx="6">
                  <c:v>474.74</c:v>
                </c:pt>
                <c:pt idx="7">
                  <c:v>890.67</c:v>
                </c:pt>
                <c:pt idx="8">
                  <c:v>926.71</c:v>
                </c:pt>
                <c:pt idx="9">
                  <c:v>755.43</c:v>
                </c:pt>
                <c:pt idx="10">
                  <c:v>1041.5899999999999</c:v>
                </c:pt>
                <c:pt idx="11">
                  <c:v>1027.83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8878744"/>
        <c:axId val="358876392"/>
      </c:lineChart>
      <c:catAx>
        <c:axId val="3588787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DCF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pt-BR"/>
          </a:p>
        </c:txPr>
        <c:crossAx val="358876392"/>
        <c:crosses val="autoZero"/>
        <c:auto val="1"/>
        <c:lblAlgn val="ctr"/>
        <c:lblOffset val="100"/>
        <c:noMultiLvlLbl val="1"/>
      </c:catAx>
      <c:valAx>
        <c:axId val="35887639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8A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5C6B8A"/>
                    </a:solidFill>
                    <a:latin typeface="Arial"/>
                  </a:rPr>
                  <a:t>R$ mil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pt-BR"/>
          </a:p>
        </c:txPr>
        <c:crossAx val="358878744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9F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B7FDE"/>
              </a:solidFill>
              <a:effectLst/>
            </c:spPr>
          </c:dPt>
          <c:dPt>
            <c:idx val="2"/>
            <c:bubble3D val="0"/>
            <c:spPr>
              <a:solidFill>
                <a:srgbClr val="FFB40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Tecnologia</c:v>
                </c:pt>
                <c:pt idx="1">
                  <c:v>Móveis</c:v>
                </c:pt>
                <c:pt idx="2">
                  <c:v>Material de Escritório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3172.11</c:v>
                </c:pt>
                <c:pt idx="1">
                  <c:v>2676.52</c:v>
                </c:pt>
                <c:pt idx="2">
                  <c:v>2541.0100000000002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pt-B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mil)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numFmt formatCode="0.0&quot; mi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Raymond Buch</c:v>
                </c:pt>
                <c:pt idx="1">
                  <c:v>Tom Ashbrook</c:v>
                </c:pt>
                <c:pt idx="2">
                  <c:v>Sean Miller</c:v>
                </c:pt>
                <c:pt idx="3">
                  <c:v>Greg Tran</c:v>
                </c:pt>
                <c:pt idx="4">
                  <c:v>Tamara Chand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28.74</c:v>
                </c:pt>
                <c:pt idx="1">
                  <c:v>28.33</c:v>
                </c:pt>
                <c:pt idx="2">
                  <c:v>28.06</c:v>
                </c:pt>
                <c:pt idx="3">
                  <c:v>27.53</c:v>
                </c:pt>
                <c:pt idx="4">
                  <c:v>27.1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358879136"/>
        <c:axId val="412998168"/>
      </c:barChart>
      <c:catAx>
        <c:axId val="3588791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endParaRPr lang="pt-BR"/>
          </a:p>
        </c:txPr>
        <c:crossAx val="412998168"/>
        <c:crosses val="autoZero"/>
        <c:auto val="1"/>
        <c:lblAlgn val="ctr"/>
        <c:lblOffset val="100"/>
        <c:noMultiLvlLbl val="1"/>
      </c:catAx>
      <c:valAx>
        <c:axId val="412998168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358879136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9F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 (R$ mil)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numFmt formatCode="0.0&quot; mi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Canon imageCLASS 2200</c:v>
                </c:pt>
                <c:pt idx="1">
                  <c:v>Nokia Smart Phone (Caller ID)</c:v>
                </c:pt>
                <c:pt idx="2">
                  <c:v>Fellowes PB500 Binding Machine</c:v>
                </c:pt>
                <c:pt idx="3">
                  <c:v>Cisco TelePresence EX90</c:v>
                </c:pt>
                <c:pt idx="4">
                  <c:v>HON 5400 Task Chairs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61.6</c:v>
                </c:pt>
                <c:pt idx="1">
                  <c:v>30.04</c:v>
                </c:pt>
                <c:pt idx="2">
                  <c:v>24.4</c:v>
                </c:pt>
                <c:pt idx="3">
                  <c:v>22.64</c:v>
                </c:pt>
                <c:pt idx="4">
                  <c:v>21.87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414188736"/>
        <c:axId val="414188344"/>
      </c:barChart>
      <c:catAx>
        <c:axId val="4141887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pt-BR"/>
          </a:p>
        </c:txPr>
        <c:crossAx val="414188344"/>
        <c:crosses val="autoZero"/>
        <c:auto val="1"/>
        <c:lblAlgn val="ctr"/>
        <c:lblOffset val="100"/>
        <c:noMultiLvlLbl val="1"/>
      </c:catAx>
      <c:valAx>
        <c:axId val="41418834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414188736"/>
        <c:crosses val="autoZero"/>
        <c:crossBetween val="between"/>
      </c:valAx>
      <c:spPr>
        <a:solidFill>
          <a:srgbClr val="F7F9F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9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737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1645920"/>
            <a:ext cx="201168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469880" y="1280160"/>
            <a:ext cx="201168" cy="868680"/>
          </a:xfrm>
          <a:prstGeom prst="rect">
            <a:avLst/>
          </a:prstGeom>
          <a:solidFill>
            <a:srgbClr val="5B7FDE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914400"/>
            <a:ext cx="201168" cy="123444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VENDAS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52622" y="306120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negócio respondidas com SQL, PostgreSQL e Power BI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Regallo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44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Jr.  |  Power BI • SQL • Python • Excel Avançado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o Projeto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foram tratados e transformados em respostas de negócio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de Dados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tabelas relacionais </a:t>
            </a:r>
            <a:r>
              <a:rPr lang="en-US" sz="125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Pedidos, Produtos e </a:t>
            </a:r>
            <a:r>
              <a:rPr lang="en-US" sz="125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modeladas e tratadas em PostgreSQL.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94767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e views em SQL (PostgreSQL) alimentando dashboards interativos no Power BI.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de Dados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1.590 clientes  ·  10.292 produtos  ·  25.035 pedidos  ·  29.999 registros de venda.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41879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dados brutos de </a:t>
            </a:r>
            <a:r>
              <a:rPr lang="en-US" sz="12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respostas objetivas para decisões de negócio.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de Negócio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perguntas estratégicas respondidas a partir </a:t>
            </a:r>
            <a:r>
              <a:rPr lang="en-US" sz="1400" i="1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73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784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foi o faturamento total e como ele evoluiu mês a mês?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F7F9F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6151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15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532888"/>
            <a:ext cx="9784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clientes a operação atende e qual o ticket médio por venda?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EF2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4564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564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374136"/>
            <a:ext cx="9784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categorias de produto mais contribuem para o faturamento?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F7F9FD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2976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976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215384"/>
            <a:ext cx="9784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 os clientes que mais geram receita para o negócio?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64240" cy="676656"/>
          </a:xfrm>
          <a:prstGeom prst="roundRect">
            <a:avLst>
              <a:gd name="adj" fmla="val 13514"/>
            </a:avLst>
          </a:prstGeom>
          <a:solidFill>
            <a:srgbClr val="EEF2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389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38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056632"/>
            <a:ext cx="9784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produtos são os mais rentáveis em faturamento?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Faturamento Total e Evolução Mensal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R$ 8,39 Mi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total no período analisado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36576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de </a:t>
            </a:r>
            <a:r>
              <a:rPr lang="en-US" sz="12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consolidados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Novembro e dezembro concentram os maiores picos de </a:t>
            </a:r>
            <a:r>
              <a:rPr lang="en-US" sz="12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ano.</a:t>
            </a:r>
            <a:endParaRPr lang="en-US" sz="12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663440" y="137160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 </a:t>
            </a:r>
            <a:r>
              <a:rPr lang="en-US" sz="32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Atendidos e Ticket Médio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2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ativos, de 1.590 cadastrados na 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2FA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6060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R$ 279,66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6344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por venda registrada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EF2FA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60604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29.999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458200" y="3977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venda no período analisado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 </a:t>
            </a:r>
            <a:r>
              <a:rPr lang="en-US" sz="32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Faturamento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Categoria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58521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157984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0" y="2029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23760" y="24048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R$ 3,17 Mi  ·  37,81% do faturamento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0" y="3209544"/>
            <a:ext cx="201168" cy="201168"/>
          </a:xfrm>
          <a:prstGeom prst="ellipse">
            <a:avLst/>
          </a:prstGeom>
          <a:solidFill>
            <a:srgbClr val="5B7FDE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30815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Móveis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23760" y="3456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R$ 2,68 Mi  ·  31,90% do faturamento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0" y="4261104"/>
            <a:ext cx="201168" cy="20116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41330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de Escritório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23760" y="45079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R$ 2,54 Mi  ·  30,29% do faturamento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0" y="53949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lidera o faturamento, mas as três categorias têm participação </a:t>
            </a:r>
            <a:r>
              <a:rPr lang="en-US" sz="125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equilibrada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</a:t>
            </a:r>
            <a:r>
              <a:rPr lang="en-US" sz="1250" i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isoladamente.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 </a:t>
            </a:r>
            <a:r>
              <a:rPr lang="en-US" sz="32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Valiosos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744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44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73152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92024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EEF2FA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2148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R$ 139,76 mil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321040" y="27889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soma faturada pelos 5 maiores clientes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21040" y="3429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pt-BR" sz="1200" i="1" dirty="0">
                <a:solidFill>
                  <a:srgbClr val="1E2761"/>
                </a:solidFill>
              </a:rPr>
              <a:t>Isso é só 1,7% do faturamento total </a:t>
            </a:r>
            <a:r>
              <a:rPr lang="pt-BR" sz="1200" i="1" dirty="0" smtClean="0">
                <a:solidFill>
                  <a:srgbClr val="1E2761"/>
                </a:solidFill>
              </a:rPr>
              <a:t>ou </a:t>
            </a:r>
            <a:r>
              <a:rPr lang="pt-BR" sz="1200" i="1" dirty="0">
                <a:solidFill>
                  <a:srgbClr val="1E2761"/>
                </a:solidFill>
              </a:rPr>
              <a:t>seja, a empresa não depende de poucos clientes grandes. A receita vem bem espalhada entre muitos clientes </a:t>
            </a:r>
            <a:r>
              <a:rPr lang="pt-BR" sz="1200" i="1" dirty="0" smtClean="0">
                <a:solidFill>
                  <a:srgbClr val="1E2761"/>
                </a:solidFill>
              </a:rPr>
              <a:t>diferentes.</a:t>
            </a:r>
            <a:endParaRPr lang="en-US" sz="1150" i="1" dirty="0">
              <a:solidFill>
                <a:srgbClr val="1E276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 </a:t>
            </a:r>
            <a:r>
              <a:rPr lang="en-US" sz="32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Produtos</a:t>
            </a:r>
            <a:r>
              <a:rPr lang="en-US" sz="32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Rentáveis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06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3284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76809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1920240"/>
            <a:ext cx="3154680" cy="260604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21488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686800" y="2834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faturamento do Top 5 vem de um único produto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0" y="365760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Canon imageCLASS 2200 lidera isolada, à frente de eletrônicos e móveis corporativos.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 Técnico: Da Divergência à Correção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tabelas de Clientes e Produtos, nomes se repetem para registros </a:t>
            </a:r>
            <a:r>
              <a:rPr lang="en-US" sz="13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3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dos nomes de cliente e 64% dos nomes de produto têm duplicidade. Agrupar por nome, em vez de ID, somava faturamento de entidades diferentes como se fossem uma só.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BEA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 </a:t>
            </a:r>
            <a:r>
              <a:rPr lang="en-US" sz="1600" b="1" dirty="0" smtClean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>
                <a:solidFill>
                  <a:srgbClr val="A832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agrupado por Nome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"Sean Miller"  →  R$ 29.376,63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valor combina dois clientes reais e diferentes que apenas coincidem no nome: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SM-20320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San Juan de la Maguana (Rep. Dominicana) · R$ 28.059,60
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SM-10320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Koumra (Chade) · R$ 1.317,03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892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 ranking de clientes/produtos ficava incorreto, misturando faturamento de registros distintos.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E9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94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 </a:t>
            </a:r>
            <a:r>
              <a:rPr lang="en-US" sz="1600" b="1" dirty="0" err="1" smtClean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agrupado</a:t>
            </a:r>
            <a:r>
              <a:rPr lang="en-US" sz="1600" b="1" dirty="0" smtClean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aparece separadamente, com seu faturamento real: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SM-20320 </a:t>
            </a:r>
            <a:r>
              <a:rPr lang="en-US" sz="13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R$ 28.059,60  (maior faturamento real)
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SM-10320 </a:t>
            </a:r>
            <a:r>
              <a:rPr lang="en-US" sz="130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R$ 1.317,03  (cliente separado)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892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F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aplicada tanto na view SQL (GROUP BY id_cliente / id_produto) quanto no modelo do Power BI, garantindo rankings fiéis à realidade.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Sazonalidade concentrada no fim do ano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Novembro e dezembro somam os maiores picos de </a:t>
            </a:r>
            <a:r>
              <a:rPr lang="en-US" sz="1200" dirty="0" err="1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r>
              <a:rPr lang="en-US" sz="12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natural para reforço comercial e de estoque.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5087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lidera, mas sem dominar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37,8% do faturamento vem de Tecnologia, à frente de Móveis (31,9%) e Material de Escritório (30,3%) </a:t>
            </a:r>
            <a:r>
              <a:rPr lang="en-US" sz="1200" dirty="0" err="1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r>
              <a:rPr lang="en-US" sz="12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equilibradas.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clientes pulverizada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maiores clientes somam apenas 1,7% do </a:t>
            </a:r>
            <a:r>
              <a:rPr lang="en-US" sz="1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 de dependência de grandes contas.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52044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EEF2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37490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dados evita distorções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43891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corrigir nomes duplicados em Clientes e Produtos foi essencial para rankings confiáveis de negócio.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</a:t>
            </a:r>
            <a:r>
              <a:rPr lang="en-US" sz="900" dirty="0" smtClean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4887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45920"/>
            <a:ext cx="201168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280160"/>
            <a:ext cx="201168" cy="868680"/>
          </a:xfrm>
          <a:prstGeom prst="rect">
            <a:avLst/>
          </a:prstGeom>
          <a:solidFill>
            <a:srgbClr val="5B7FDE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914400"/>
            <a:ext cx="201168" cy="123444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ou sugestões sobre a análise são muito bem-vindas.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Regallo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144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Jr.  |  Power BI • SQL • Python • Excel Avançado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737</Words>
  <Application>Microsoft Office PowerPoint</Application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Conta da Microsoft</cp:lastModifiedBy>
  <cp:revision>8</cp:revision>
  <dcterms:created xsi:type="dcterms:W3CDTF">2026-08-24T20:14:57Z</dcterms:created>
  <dcterms:modified xsi:type="dcterms:W3CDTF">2026-08-25T22:32:41Z</dcterms:modified>
</cp:coreProperties>
</file>